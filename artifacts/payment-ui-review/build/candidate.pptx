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a86ebd7e494398" /><Relationship Type="http://schemas.openxmlformats.org/officeDocument/2006/relationships/extended-properties" Target="/docProps/app.xml" Id="Rd839d8fb0d3842b9" /><Relationship Type="http://schemas.openxmlformats.org/officeDocument/2006/relationships/officeDocument" Target="/ppt/presentation.xml" Id="Rfa48646cc8224c7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1a9fe944e5042d3"/>
  </p:sldMasterIdLst>
  <p:notesMasterIdLst>
    <p:notesMasterId xmlns:r="http://schemas.openxmlformats.org/officeDocument/2006/relationships" r:id="R8033cbe512734a59"/>
  </p:notesMasterIdLst>
  <p:sldIdLst>
    <p:sldId xmlns:r="http://schemas.openxmlformats.org/officeDocument/2006/relationships" id="256" r:id="R3ca6cda0f8314fcb"/>
    <p:sldId xmlns:r="http://schemas.openxmlformats.org/officeDocument/2006/relationships" id="257" r:id="Rd88ddc36c228421b"/>
    <p:sldId xmlns:r="http://schemas.openxmlformats.org/officeDocument/2006/relationships" id="258" r:id="Re387219178954c56"/>
    <p:sldId xmlns:r="http://schemas.openxmlformats.org/officeDocument/2006/relationships" id="259" r:id="Rdcf487a5793f4f1f"/>
    <p:sldId xmlns:r="http://schemas.openxmlformats.org/officeDocument/2006/relationships" id="260" r:id="R3ca375977e63455e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03e9b04f048149dc"/>
      <p:italic xmlns:r="http://schemas.openxmlformats.org/officeDocument/2006/relationships" r:id="R1db0cbf855f140cd"/>
    </p:embeddedFont>
    <p:embeddedFont>
      <p:font typeface="Lora SemiBold"/>
      <p:regular xmlns:r="http://schemas.openxmlformats.org/officeDocument/2006/relationships" r:id="R122e8b73194847fc"/>
      <p:bold xmlns:r="http://schemas.openxmlformats.org/officeDocument/2006/relationships" r:id="R32c6d2279bfa43b9"/>
      <p:italic xmlns:r="http://schemas.openxmlformats.org/officeDocument/2006/relationships" r:id="R6d87df276b714ffc"/>
      <p:boldItalic xmlns:r="http://schemas.openxmlformats.org/officeDocument/2006/relationships" r:id="R2eb4347f39b14ed8"/>
    </p:embeddedFont>
    <p:embeddedFont>
      <p:font typeface="OpenAI Sans"/>
      <p:regular xmlns:r="http://schemas.openxmlformats.org/officeDocument/2006/relationships" r:id="R95a456c6c5824f02"/>
      <p:bold xmlns:r="http://schemas.openxmlformats.org/officeDocument/2006/relationships" r:id="R7a58f22d0d5144fd"/>
      <p:italic xmlns:r="http://schemas.openxmlformats.org/officeDocument/2006/relationships" r:id="R2d46cc909f624a56"/>
      <p:boldItalic xmlns:r="http://schemas.openxmlformats.org/officeDocument/2006/relationships" r:id="R898357df70094b83"/>
    </p:embeddedFont>
    <p:embeddedFont>
      <p:font typeface="Roboto"/>
      <p:regular xmlns:r="http://schemas.openxmlformats.org/officeDocument/2006/relationships" r:id="Rcee76a4feac743e0"/>
      <p:bold xmlns:r="http://schemas.openxmlformats.org/officeDocument/2006/relationships" r:id="R6f94bc0c1f9b459a"/>
      <p:italic xmlns:r="http://schemas.openxmlformats.org/officeDocument/2006/relationships" r:id="R02a53dc7b20a4fb4"/>
      <p:boldItalic xmlns:r="http://schemas.openxmlformats.org/officeDocument/2006/relationships" r:id="Ra11b2fb36a6043ab"/>
    </p:embeddedFont>
    <p:embeddedFont>
      <p:font typeface="Roboto Medium"/>
      <p:regular xmlns:r="http://schemas.openxmlformats.org/officeDocument/2006/relationships" r:id="Rf2af08c342874deb"/>
      <p:italic xmlns:r="http://schemas.openxmlformats.org/officeDocument/2006/relationships" r:id="Rbd15812286024a70"/>
    </p:embeddedFont>
    <p:embeddedFont>
      <p:font typeface="Roboto SemiBold"/>
      <p:regular xmlns:r="http://schemas.openxmlformats.org/officeDocument/2006/relationships" r:id="Rc01fa807806f4613"/>
      <p:bold xmlns:r="http://schemas.openxmlformats.org/officeDocument/2006/relationships" r:id="R3af8ce5b9f5046c5"/>
      <p:italic xmlns:r="http://schemas.openxmlformats.org/officeDocument/2006/relationships" r:id="R74548afafb0a4694"/>
      <p:boldItalic xmlns:r="http://schemas.openxmlformats.org/officeDocument/2006/relationships" r:id="R64bfdb972c7e4d90"/>
    </p:embeddedFont>
    <p:embeddedFont>
      <p:font typeface="Roboto Serif 14pt"/>
      <p:regular xmlns:r="http://schemas.openxmlformats.org/officeDocument/2006/relationships" r:id="R9c897739623b4e56"/>
      <p:bold xmlns:r="http://schemas.openxmlformats.org/officeDocument/2006/relationships" r:id="R9fb73463f0094009"/>
      <p:italic xmlns:r="http://schemas.openxmlformats.org/officeDocument/2006/relationships" r:id="R8ed0ba1dedc64cf5"/>
      <p:boldItalic xmlns:r="http://schemas.openxmlformats.org/officeDocument/2006/relationships" r:id="R36a1b4e7bb3e44a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fa52dfae6438d" /><Relationship Type="http://schemas.openxmlformats.org/officeDocument/2006/relationships/slideMaster" Target="/ppt/slideMasters/slideMaster1.xml" Id="R21a9fe944e5042d3" /><Relationship Type="http://schemas.openxmlformats.org/officeDocument/2006/relationships/notesMaster" Target="/ppt/notesMasters/notesMaster1.xml" Id="R8033cbe512734a59" /><Relationship Type="http://schemas.openxmlformats.org/officeDocument/2006/relationships/presProps" Target="/ppt/presProps.xml" Id="R61c5bc51396b485d" /><Relationship Type="http://schemas.openxmlformats.org/officeDocument/2006/relationships/viewProps" Target="/ppt/viewProps.xml" Id="R98fbdbaabdb3447f" /><Relationship Type="http://schemas.openxmlformats.org/officeDocument/2006/relationships/tableStyles" Target="/ppt/tableStyles.xml" Id="R9e9580c043344d3d" /><Relationship Type="http://schemas.openxmlformats.org/officeDocument/2006/relationships/font" Target="/ppt/fonts/font.dat" Id="R03e9b04f048149dc" /><Relationship Type="http://schemas.openxmlformats.org/officeDocument/2006/relationships/font" Target="/ppt/fonts/font2.dat" Id="R1db0cbf855f140cd" /><Relationship Type="http://schemas.openxmlformats.org/officeDocument/2006/relationships/font" Target="/ppt/fonts/font3.dat" Id="R122e8b73194847fc" /><Relationship Type="http://schemas.openxmlformats.org/officeDocument/2006/relationships/font" Target="/ppt/fonts/font4.dat" Id="R32c6d2279bfa43b9" /><Relationship Type="http://schemas.openxmlformats.org/officeDocument/2006/relationships/font" Target="/ppt/fonts/font5.dat" Id="R6d87df276b714ffc" /><Relationship Type="http://schemas.openxmlformats.org/officeDocument/2006/relationships/font" Target="/ppt/fonts/font6.dat" Id="R2eb4347f39b14ed8" /><Relationship Type="http://schemas.openxmlformats.org/officeDocument/2006/relationships/font" Target="/ppt/fonts/font7.dat" Id="R95a456c6c5824f02" /><Relationship Type="http://schemas.openxmlformats.org/officeDocument/2006/relationships/font" Target="/ppt/fonts/font8.dat" Id="R7a58f22d0d5144fd" /><Relationship Type="http://schemas.openxmlformats.org/officeDocument/2006/relationships/font" Target="/ppt/fonts/font9.dat" Id="R2d46cc909f624a56" /><Relationship Type="http://schemas.openxmlformats.org/officeDocument/2006/relationships/font" Target="/ppt/fonts/font10.dat" Id="R898357df70094b83" /><Relationship Type="http://schemas.openxmlformats.org/officeDocument/2006/relationships/font" Target="/ppt/fonts/font11.dat" Id="Rcee76a4feac743e0" /><Relationship Type="http://schemas.openxmlformats.org/officeDocument/2006/relationships/font" Target="/ppt/fonts/font12.dat" Id="R6f94bc0c1f9b459a" /><Relationship Type="http://schemas.openxmlformats.org/officeDocument/2006/relationships/font" Target="/ppt/fonts/font13.dat" Id="R02a53dc7b20a4fb4" /><Relationship Type="http://schemas.openxmlformats.org/officeDocument/2006/relationships/font" Target="/ppt/fonts/font14.dat" Id="Ra11b2fb36a6043ab" /><Relationship Type="http://schemas.openxmlformats.org/officeDocument/2006/relationships/font" Target="/ppt/fonts/font15.dat" Id="Rf2af08c342874deb" /><Relationship Type="http://schemas.openxmlformats.org/officeDocument/2006/relationships/font" Target="/ppt/fonts/font16.dat" Id="Rbd15812286024a70" /><Relationship Type="http://schemas.openxmlformats.org/officeDocument/2006/relationships/font" Target="/ppt/fonts/font17.dat" Id="Rc01fa807806f4613" /><Relationship Type="http://schemas.openxmlformats.org/officeDocument/2006/relationships/font" Target="/ppt/fonts/font18.dat" Id="R3af8ce5b9f5046c5" /><Relationship Type="http://schemas.openxmlformats.org/officeDocument/2006/relationships/font" Target="/ppt/fonts/font19.dat" Id="R74548afafb0a4694" /><Relationship Type="http://schemas.openxmlformats.org/officeDocument/2006/relationships/font" Target="/ppt/fonts/font20.dat" Id="R64bfdb972c7e4d90" /><Relationship Type="http://schemas.openxmlformats.org/officeDocument/2006/relationships/font" Target="/ppt/fonts/font21.dat" Id="R9c897739623b4e56" /><Relationship Type="http://schemas.openxmlformats.org/officeDocument/2006/relationships/font" Target="/ppt/fonts/font22.dat" Id="R9fb73463f0094009" /><Relationship Type="http://schemas.openxmlformats.org/officeDocument/2006/relationships/font" Target="/ppt/fonts/font23.dat" Id="R8ed0ba1dedc64cf5" /><Relationship Type="http://schemas.openxmlformats.org/officeDocument/2006/relationships/font" Target="/ppt/fonts/font24.dat" Id="R36a1b4e7bb3e44a2" /><Relationship Type="http://schemas.openxmlformats.org/officeDocument/2006/relationships/slide" Target="/ppt/slides/slide1.xml" Id="R3ca6cda0f8314fcb" /><Relationship Type="http://schemas.openxmlformats.org/officeDocument/2006/relationships/slide" Target="/ppt/slides/slide2.xml" Id="Rd88ddc36c228421b" /><Relationship Type="http://schemas.openxmlformats.org/officeDocument/2006/relationships/slide" Target="/ppt/slides/slide3.xml" Id="Re387219178954c56" /><Relationship Type="http://schemas.openxmlformats.org/officeDocument/2006/relationships/slide" Target="/ppt/slides/slide4.xml" Id="Rdcf487a5793f4f1f" /><Relationship Type="http://schemas.openxmlformats.org/officeDocument/2006/relationships/slide" Target="/ppt/slides/slide5.xml" Id="R3ca375977e63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0450cd50ed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a1ffc489f143d8" /><Relationship Type="http://schemas.openxmlformats.org/officeDocument/2006/relationships/notesMaster" Target="/ppt/notesMasters/notesMaster1.xml" Id="Raa5b94d9f18b41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34cada1b824a70" /><Relationship Type="http://schemas.openxmlformats.org/officeDocument/2006/relationships/notesMaster" Target="/ppt/notesMasters/notesMaster1.xml" Id="R267bf2edc8cf48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b3fdc4587413d" /><Relationship Type="http://schemas.openxmlformats.org/officeDocument/2006/relationships/notesMaster" Target="/ppt/notesMasters/notesMaster1.xml" Id="Rfefe4037a5504a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e6e5dcae28467c" /><Relationship Type="http://schemas.openxmlformats.org/officeDocument/2006/relationships/notesMaster" Target="/ppt/notesMasters/notesMaster1.xml" Id="Rb4a059822a2a41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f52a2a7b914ce7" /><Relationship Type="http://schemas.openxmlformats.org/officeDocument/2006/relationships/notesMaster" Target="/ppt/notesMasters/notesMaster1.xml" Id="R685aae2b38b34a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user-supplied Mero Telecom payment-management screenshot. Findings are qualitative UX observations based on the supplied interface.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user-supplied Mero Telecom payment-management screenshot. Findings are qualitative UX observations based on the supplied interface.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user-supplied Mero Telecom payment-management screenshot. Findings are qualitative UX observations based on the supplied interface.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Mero Telecom payment-management screenshot. Findings are qualitative UX observations based on the supplied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a0e8e99bc42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2a1486ef34d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d9f17a86745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af19d9ff44c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6da5b2fd440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c5ea1f116432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26ea112a540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7c3a20ccb445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19109a76f4e3e" /><Relationship Type="http://schemas.openxmlformats.org/officeDocument/2006/relationships/slideLayout" Target="/ppt/slideLayouts/slideLayout1.xml" Id="R642ad7ba1ccd4bb3" /><Relationship Type="http://schemas.openxmlformats.org/officeDocument/2006/relationships/slideLayout" Target="/ppt/slideLayouts/slideLayout2.xml" Id="R9ddce18dabf3402c" /><Relationship Type="http://schemas.openxmlformats.org/officeDocument/2006/relationships/slideLayout" Target="/ppt/slideLayouts/slideLayout3.xml" Id="Rc96b71a8884848c7" /><Relationship Type="http://schemas.openxmlformats.org/officeDocument/2006/relationships/slideLayout" Target="/ppt/slideLayouts/slideLayout4.xml" Id="R7b887181de334eb4" /><Relationship Type="http://schemas.openxmlformats.org/officeDocument/2006/relationships/slideLayout" Target="/ppt/slideLayouts/slideLayout5.xml" Id="R2a212407faae45ef" /><Relationship Type="http://schemas.openxmlformats.org/officeDocument/2006/relationships/slideLayout" Target="/ppt/slideLayouts/slideLayout6.xml" Id="R4201ca82fc784c81" /><Relationship Type="http://schemas.openxmlformats.org/officeDocument/2006/relationships/slideLayout" Target="/ppt/slideLayouts/slideLayout7.xml" Id="Rbb23e13373b94d90" /><Relationship Type="http://schemas.openxmlformats.org/officeDocument/2006/relationships/slideLayout" Target="/ppt/slideLayouts/slideLayout8.xml" Id="Rd82914f05ae1400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ad7ba1ccd4bb3"/>
    <p:sldLayoutId xmlns:r="http://schemas.openxmlformats.org/officeDocument/2006/relationships" id="2147483650" r:id="R9ddce18dabf3402c"/>
    <p:sldLayoutId xmlns:r="http://schemas.openxmlformats.org/officeDocument/2006/relationships" id="2147483651" r:id="Rc96b71a8884848c7"/>
    <p:sldLayoutId xmlns:r="http://schemas.openxmlformats.org/officeDocument/2006/relationships" id="2147483652" r:id="R7b887181de334eb4"/>
    <p:sldLayoutId xmlns:r="http://schemas.openxmlformats.org/officeDocument/2006/relationships" id="2147483653" r:id="R2a212407faae45ef"/>
    <p:sldLayoutId xmlns:r="http://schemas.openxmlformats.org/officeDocument/2006/relationships" id="2147483654" r:id="R4201ca82fc784c81"/>
    <p:sldLayoutId xmlns:r="http://schemas.openxmlformats.org/officeDocument/2006/relationships" id="2147483655" r:id="Rbb23e13373b94d90"/>
    <p:sldLayoutId xmlns:r="http://schemas.openxmlformats.org/officeDocument/2006/relationships" id="2147483656" r:id="Rd82914f05ae1400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473fbc88b4bf7" /><Relationship Type="http://schemas.openxmlformats.org/officeDocument/2006/relationships/notesSlide" Target="/ppt/notesSlides/notesSlide1.xml" Id="Refebc49e7b23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f78ad122245a3" /><Relationship Type="http://schemas.openxmlformats.org/officeDocument/2006/relationships/notesSlide" Target="/ppt/notesSlides/notesSlide2.xml" Id="R9451ff4d63b94a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4a7b08ad94dff" /><Relationship Type="http://schemas.openxmlformats.org/officeDocument/2006/relationships/notesSlide" Target="/ppt/notesSlides/notesSlide3.xml" Id="Ref22ea0f7454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16a478f244b5e" /><Relationship Type="http://schemas.openxmlformats.org/officeDocument/2006/relationships/image" Target="/ppt/media/image.png" Id="Rb239926e14674f3a" /><Relationship Type="http://schemas.openxmlformats.org/officeDocument/2006/relationships/notesSlide" Target="/ppt/notesSlides/notesSlide4.xml" Id="Rfd24d865456544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5e1cc040ca4a55" /><Relationship Type="http://schemas.openxmlformats.org/officeDocument/2006/relationships/notesSlide" Target="/ppt/notesSlides/notesSlide5.xml" Id="Ra8cde2b2ae364c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Payment management UX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Assessment of the saved payment methods experience, with recommendations to reduce ambiguity and prevent accidental changes.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September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Mero Telecom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D126A173-71C3-4137-83E3-CD4811F2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2364BA1-18E6-4B0A-BB57-567C839EA6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screen has a clear heading, sensible spacing, masked card details, and a visible default state. Customers can understand the purpose of the section without payment expertise.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46E8AD8-6697-4A91-924D-B10EB8ECDEC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Overall status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Three Link entries have the same label and no date or identifier. A customer cannot predict which method an action will affect.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The main usability risk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Payment management needs refinement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Executive assessment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1F47DA24-5818-477A-93AC-C9F6A9E4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Refine the list before treating it as a finished management experience. Put the default first, distinguish every row, and reduce the visual weight of Remove.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658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Recommendation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rmAutofit fontScale="99847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Needs refinement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Bottom line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experience is usable for a single card. It becomes confusing when Stripe returns several methods that look identical.</a:t>
            </a:r>
          </a:p>
        </p:txBody>
      </p:sp>
    </p:spTree>
    <p:extLst>
      <p:ext uri="{BB962C8B-B14F-4D97-AF65-F5344CB8AC3E}">
        <p14:creationId xmlns:p14="http://schemas.microsoft.com/office/powerpoint/2010/main" val="1636653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57150" rIns="95250" bIns="57150" anchor="t">
            <a:normAutofit fontScale="94915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WHAT WORKS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Clear hierarchy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The heading, helper copy, and rows scan well.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Trust and privacy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Masked card details and Stripe language reassure customers.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Default-state protection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The badge and blocked removal reason help prevent billing disruption.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Strengths and friction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57150" rIns="95250" bIns="57150" anchor="t">
            <a:normAutofit fontScale="9491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WHAT CREATES FRICTION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Indistinguishable Link entries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Three rows look identical, so actions feel risky.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Too many equal-weight actions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Set as default and Remove compete for attention on every row.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Split management model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334155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334155"/>
                </a:solidFill>
                <a:latin typeface="Roboto"/>
                <a:ea typeface="Roboto"/>
                <a:cs typeface="Roboto"/>
              </a:rPr>
              <a:t>In-app controls and Manage securely in Stripe overlap without explaining which path customers should prefer.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8888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The foundations are strong. The remaining issues concern identity, action priority, and feedback.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9335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Recommended payment-method list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200">
                <a:solidFill>
                  <a:srgbClr val="475569"/>
                </a:solidFill>
                <a:latin typeface="Roboto"/>
                <a:ea typeface="Roboto"/>
                <a:cs typeface="Roboto"/>
              </a:defRPr>
            </a:pPr>
            <a:r>
              <a:rPr sz="1200" b="0" i="0" u="none" cap="none" spc="0">
                <a:ln>
                  <a:noFill/>
                </a:ln>
                <a:solidFill>
                  <a:srgbClr val="475569"/>
                </a:solidFill>
                <a:latin typeface="Roboto"/>
                <a:ea typeface="Roboto"/>
                <a:cs typeface="Roboto"/>
              </a:rPr>
              <a:t>Sort the active default to the top. Keep one primary action per row and give Remove lower visual emphasis.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Put the default first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200">
                <a:solidFill>
                  <a:srgbClr val="475569"/>
                </a:solidFill>
                <a:latin typeface="Roboto"/>
                <a:ea typeface="Roboto"/>
                <a:cs typeface="Roboto"/>
              </a:defRPr>
            </a:pPr>
            <a:r>
              <a:rPr sz="1200" b="0" i="0" u="none" cap="none" spc="0">
                <a:ln>
                  <a:noFill/>
                </a:ln>
                <a:solidFill>
                  <a:srgbClr val="475569"/>
                </a:solidFill>
                <a:latin typeface="Roboto"/>
                <a:ea typeface="Roboto"/>
                <a:cs typeface="Roboto"/>
              </a:rPr>
              <a:t>Choose the in-app list or Stripe portal as the main path. Confirm successful changes when customers return.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Use one management model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200">
                <a:solidFill>
                  <a:srgbClr val="475569"/>
                </a:solidFill>
                <a:latin typeface="Roboto"/>
                <a:ea typeface="Roboto"/>
                <a:cs typeface="Roboto"/>
              </a:defRPr>
            </a:pPr>
            <a:r>
              <a:rPr sz="1200" b="0" i="0" u="none" cap="none" spc="0">
                <a:ln>
                  <a:noFill/>
                </a:ln>
                <a:solidFill>
                  <a:srgbClr val="475569"/>
                </a:solidFill>
                <a:latin typeface="Roboto"/>
                <a:ea typeface="Roboto"/>
                <a:cs typeface="Roboto"/>
              </a:rPr>
              <a:t>Show card brand and last four digits, or label Link with an added date. Never render identical rows without a distinguishing detail.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Make every method identifiable</a:t>
            </a:r>
          </a:p>
        </p:txBody>
      </p:sp>
      <p:pic>
        <p:nvPicPr>
          <p:cNvPr id="5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9926e14674f3a"/>
          <a:stretch xmlns:a="http://schemas.openxmlformats.org/drawingml/2006/main"/>
        </p:blipFill>
        <p:spPr>
          <a:xfrm xmlns:a="http://schemas.openxmlformats.org/drawingml/2006/main">
            <a:off x="400050" y="1695418"/>
            <a:ext cx="5143500" cy="3133788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F2937"/>
                </a:solidFill>
                <a:latin typeface="Roboto"/>
                <a:ea typeface="Roboto"/>
                <a:cs typeface="Roboto"/>
              </a:rPr>
              <a:t>Prevent mistakes</a:t>
            </a:r>
          </a:p>
          <a:p xmlns:a="http://schemas.openxmlformats.org/drawingml/2006/main">
            <a:r>
              <a:rPr sz="140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Default first. Distinguish Link rows. Confirm destructive removal.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Prioritized improvement plan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F2937"/>
                </a:solidFill>
                <a:latin typeface="Roboto"/>
                <a:ea typeface="Roboto"/>
                <a:cs typeface="Roboto"/>
              </a:rPr>
              <a:t>Reduce action noise</a:t>
            </a:r>
          </a:p>
          <a:p xmlns:a="http://schemas.openxmlformats.org/drawingml/2006/main">
            <a:r>
              <a:rPr sz="140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Make the default state read-only. Move secondary actions into a compact menu on small screens.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F2937"/>
                </a:solidFill>
                <a:latin typeface="Roboto"/>
                <a:ea typeface="Roboto"/>
                <a:cs typeface="Roboto"/>
              </a:rPr>
              <a:t>Improve feedback</a:t>
            </a:r>
          </a:p>
          <a:p xmlns:a="http://schemas.openxmlformats.org/drawingml/2006/main">
            <a:r>
              <a:rPr sz="1400">
                <a:solidFill>
                  <a:srgbClr val="475569"/>
                </a:solidFill>
                <a:latin typeface="Roboto"/>
                <a:ea typeface="Roboto"/>
                <a:cs typeface="Roboto"/>
              </a:rPr>
              <a:t>Show success and error confirmation. Add useful context such as Added or Last used.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Before launch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Next iteration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Later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2026-09-27T07:53:29.3250000Z</dcterms:created>
  <dcterms:modified xsi:type="dcterms:W3CDTF">2026-09-27T07:53:29.3250000Z</dcterms:modified>
</coreProperties>
</file>